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pic>
        <p:nvPicPr>
          <p:cNvPr id="4" name="Image 0" descr="/mnt/data/audio_outputs/wave_bi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27748" y="777240"/>
            <a:ext cx="3712464" cy="1325880"/>
          </a:xfrm>
          <a:prstGeom prst="rect">
            <a:avLst/>
          </a:prstGeom>
        </p:spPr>
      </p:pic>
      <p:pic>
        <p:nvPicPr>
          <p:cNvPr id="5" name="Image 1" descr="/mnt/data/audio_outputs/wave_ca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7748" y="2542032"/>
            <a:ext cx="3712464" cy="1325880"/>
          </a:xfrm>
          <a:prstGeom prst="rect">
            <a:avLst/>
          </a:prstGeom>
        </p:spPr>
      </p:pic>
      <p:pic>
        <p:nvPicPr>
          <p:cNvPr id="6" name="Image 2" descr="/mnt/data/audio_outputs/wave_do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7748" y="4315968"/>
            <a:ext cx="3712464" cy="132588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66928" y="1243584"/>
            <a:ext cx="5257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Audio Classification</a:t>
            </a:r>
            <a:endParaRPr lang="en-US" sz="3800" dirty="0"/>
          </a:p>
        </p:txBody>
      </p:sp>
      <p:sp>
        <p:nvSpPr>
          <p:cNvPr id="8" name="Text 3"/>
          <p:cNvSpPr/>
          <p:nvPr/>
        </p:nvSpPr>
        <p:spPr>
          <a:xfrm>
            <a:off x="594360" y="1847088"/>
            <a:ext cx="5212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Bird vs Cat vs Dog</a:t>
            </a:r>
            <a:endParaRPr lang="en-US" sz="3600" dirty="0"/>
          </a:p>
        </p:txBody>
      </p:sp>
      <p:sp>
        <p:nvSpPr>
          <p:cNvPr id="9" name="Text 4"/>
          <p:cNvSpPr/>
          <p:nvPr/>
        </p:nvSpPr>
        <p:spPr>
          <a:xfrm>
            <a:off x="621792" y="2587752"/>
            <a:ext cx="484632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B7C2D9"/>
                </a:solidFill>
              </a:rPr>
              <a:t>Using acoustic features and five machine learning models to classify short spoken-word audio clips.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94944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610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694944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audio clips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832104" y="4416552"/>
            <a:ext cx="1024128" cy="0"/>
          </a:xfrm>
          <a:prstGeom prst="line">
            <a:avLst/>
          </a:prstGeom>
          <a:noFill/>
          <a:ln w="15240">
            <a:solidFill>
              <a:srgbClr val="36D1DC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8"/>
          <p:cNvSpPr/>
          <p:nvPr/>
        </p:nvSpPr>
        <p:spPr>
          <a:xfrm>
            <a:off x="2139696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2139696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numeric features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2276856" y="4416552"/>
            <a:ext cx="1024128" cy="0"/>
          </a:xfrm>
          <a:prstGeom prst="line">
            <a:avLst/>
          </a:prstGeom>
          <a:noFill/>
          <a:ln w="15240">
            <a:solidFill>
              <a:srgbClr val="FFB84D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Text 11"/>
          <p:cNvSpPr/>
          <p:nvPr/>
        </p:nvSpPr>
        <p:spPr>
          <a:xfrm>
            <a:off x="3584448" y="4069080"/>
            <a:ext cx="1298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8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</a:t>
            </a:r>
            <a:endParaRPr lang="en-US" sz="2600" dirty="0"/>
          </a:p>
        </p:txBody>
      </p:sp>
      <p:sp>
        <p:nvSpPr>
          <p:cNvPr id="17" name="Text 12"/>
          <p:cNvSpPr/>
          <p:nvPr/>
        </p:nvSpPr>
        <p:spPr>
          <a:xfrm>
            <a:off x="3584448" y="449884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models tested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721608" y="4416552"/>
            <a:ext cx="1024128" cy="0"/>
          </a:xfrm>
          <a:prstGeom prst="line">
            <a:avLst/>
          </a:prstGeom>
          <a:noFill/>
          <a:ln w="15240">
            <a:solidFill>
              <a:srgbClr val="67E8A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Text 14"/>
          <p:cNvSpPr/>
          <p:nvPr/>
        </p:nvSpPr>
        <p:spPr>
          <a:xfrm>
            <a:off x="658368" y="580644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Presentation: May 6, 2026 • 2–4pm</a:t>
            </a:r>
          </a:p>
          <a:p>
            <a:r>
              <a:t>Ethan DeLaRosa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 trying to solve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Can a program recognize an animal word from the sound alone?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591056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6D1DC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short .wav clip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926080" y="1901952"/>
            <a:ext cx="1005840" cy="411480"/>
          </a:xfrm>
          <a:prstGeom prst="chevron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97680" y="1591056"/>
            <a:ext cx="1600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B84D"/>
                </a:solidFill>
              </a:rPr>
              <a:t>Features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297680" y="19385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loudness, pitch range, spectral shape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0" y="1901952"/>
            <a:ext cx="1005840" cy="411480"/>
          </a:xfrm>
          <a:prstGeom prst="chevron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732520" y="15910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7E8A5"/>
                </a:solidFill>
              </a:rPr>
              <a:t>Prediction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732520" y="193852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bird / cat / dog</a:t>
            </a:r>
            <a:endParaRPr lang="en-US" sz="1700" dirty="0"/>
          </a:p>
        </p:txBody>
      </p:sp>
      <p:pic>
        <p:nvPicPr>
          <p:cNvPr id="15" name="Image 0" descr="/mnt/data/audio_outputs/wave_c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" y="3703320"/>
            <a:ext cx="3712464" cy="132588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486400" y="3794760"/>
            <a:ext cx="5394960" cy="11430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</a:rPr>
              <a:t>The challenge: raw audio is not like a spreadsheet. The model needs numerical features that capture what makes each word sound different.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5486400" y="5138928"/>
            <a:ext cx="4754880" cy="0"/>
          </a:xfrm>
          <a:prstGeom prst="line">
            <a:avLst/>
          </a:prstGeom>
          <a:noFill/>
          <a:ln w="25400">
            <a:solidFill>
              <a:srgbClr val="36D1DC">
                <a:alpha val="75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Dataset overview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Kaggle audio clips labeled as bird, cat, or dog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3</a:t>
            </a:r>
            <a:endParaRPr lang="en-US" sz="850" dirty="0"/>
          </a:p>
        </p:txBody>
      </p:sp>
      <p:pic>
        <p:nvPicPr>
          <p:cNvPr id="7" name="Image 0" descr="/mnt/data/audio_outputs/class_bal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1155"/>
            <a:ext cx="4983480" cy="32036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92240" y="15361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AFC"/>
                </a:solidFill>
              </a:rPr>
              <a:t>Class balance is almost even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537960" y="2221992"/>
            <a:ext cx="301752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Bird: 193 clips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Cat: 207 clips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B7C2D9"/>
                </a:solidFill>
              </a:rPr>
              <a:t>Dog: 210 clips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537960" y="3767328"/>
            <a:ext cx="4297680" cy="10789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F7FAFC"/>
                </a:solidFill>
              </a:rPr>
              <a:t>Because no class dominates the data, accuracy is a fair first look, and a stratified train/test split keeps every class represented.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6583680" y="5349240"/>
            <a:ext cx="3566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8A5"/>
                </a:solidFill>
              </a:rPr>
              <a:t>Split: 80% train / 20% test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Method used to solve it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Cleaning the data and converting audio into ML-ready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4</a:t>
            </a:r>
            <a:endParaRPr lang="en-US" sz="850" dirty="0"/>
          </a:p>
        </p:txBody>
      </p:sp>
      <p:pic>
        <p:nvPicPr>
          <p:cNvPr id="7" name="Image 0" descr="/mnt/data/audio_outputs/wave_d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9713" y="1115568"/>
            <a:ext cx="3123590" cy="1115568"/>
          </a:xfrm>
          <a:prstGeom prst="rect">
            <a:avLst/>
          </a:prstGeom>
        </p:spPr>
      </p:pic>
      <p:pic>
        <p:nvPicPr>
          <p:cNvPr id="8" name="Image 1" descr="/mnt/data/audio_outputs/wave_bi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713" y="2578608"/>
            <a:ext cx="3123590" cy="1115568"/>
          </a:xfrm>
          <a:prstGeom prst="rect">
            <a:avLst/>
          </a:prstGeom>
        </p:spPr>
      </p:pic>
      <p:pic>
        <p:nvPicPr>
          <p:cNvPr id="9" name="Image 2" descr="/mnt/data/audio_outputs/wave_c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9713" y="4041648"/>
            <a:ext cx="3123590" cy="11155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19088" y="1207008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6D1DC"/>
                </a:solidFill>
              </a:rPr>
              <a:t>PREPROCESSING DECISIONS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6446520" y="1627632"/>
            <a:ext cx="4754880" cy="3017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Missing values: checked feature table; none found, but median imputation is in every model pipeline.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Outliers: clipped numeric audio features at the 1st and 99th percentiles.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Categorical column: label encoded bird/cat/dog as numbers for modeling.</a:t>
            </a:r>
            <a:endParaRPr lang="en-US" sz="1530" dirty="0"/>
          </a:p>
          <a:p>
            <a:pPr marL="152400" indent="-152400">
              <a:buSzPct val="100000"/>
              <a:buChar char="•"/>
            </a:pPr>
            <a:r>
              <a:rPr lang="en-US" sz="1530" dirty="0">
                <a:solidFill>
                  <a:srgbClr val="F7FAFC"/>
                </a:solidFill>
              </a:rPr>
              <a:t>Imbalance: classes are close; used stratified split and balanced class weights where available.</a:t>
            </a:r>
            <a:endParaRPr lang="en-US" sz="1530" dirty="0"/>
          </a:p>
        </p:txBody>
      </p:sp>
      <p:sp>
        <p:nvSpPr>
          <p:cNvPr id="12" name="Text 7"/>
          <p:cNvSpPr/>
          <p:nvPr/>
        </p:nvSpPr>
        <p:spPr>
          <a:xfrm>
            <a:off x="6419088" y="5074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FEATURES EXTRACTED</a:t>
            </a:r>
            <a:endParaRPr lang="en-US" sz="950" dirty="0"/>
          </a:p>
        </p:txBody>
      </p:sp>
      <p:sp>
        <p:nvSpPr>
          <p:cNvPr id="13" name="Text 8"/>
          <p:cNvSpPr/>
          <p:nvPr/>
        </p:nvSpPr>
        <p:spPr>
          <a:xfrm>
            <a:off x="6446520" y="5413248"/>
            <a:ext cx="4846320" cy="7132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B7C2D9"/>
                </a:solidFill>
              </a:rPr>
              <a:t>RMS energy • zero crossing rate • spectral centroid • bandwidth • rolloff • entropy • frequency-band energy • cepstral shape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Models trained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Five different approaches were tested on the same features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5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77240" y="1737360"/>
            <a:ext cx="1170432" cy="1170432"/>
          </a:xfrm>
          <a:prstGeom prst="ellipse">
            <a:avLst/>
          </a:prstGeom>
          <a:solidFill>
            <a:srgbClr val="B78CFF"/>
          </a:solidFill>
          <a:ln w="12700">
            <a:solidFill>
              <a:srgbClr val="B78C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7724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805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KNN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3832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nearby examples vote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971800" y="1737360"/>
            <a:ext cx="1170432" cy="1170432"/>
          </a:xfrm>
          <a:prstGeom prst="ellipse">
            <a:avLst/>
          </a:prstGeom>
          <a:solidFill>
            <a:srgbClr val="36D1DC"/>
          </a:solidFill>
          <a:ln w="127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97180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4261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Logistic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Regression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253288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linear decision boundary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166360" y="1737360"/>
            <a:ext cx="1170432" cy="1170432"/>
          </a:xfrm>
          <a:prstGeom prst="ellipse">
            <a:avLst/>
          </a:prstGeom>
          <a:solidFill>
            <a:srgbClr val="67E8A5"/>
          </a:solidFill>
          <a:ln w="12700">
            <a:solidFill>
              <a:srgbClr val="67E8A5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16636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3717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Random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Forest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72744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many trees vote together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360920" y="1737360"/>
            <a:ext cx="1170432" cy="1170432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736092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4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03173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XGBoost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92200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boosted trees correct errors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555480" y="1737360"/>
            <a:ext cx="1170432" cy="1170432"/>
          </a:xfrm>
          <a:prstGeom prst="ellipse">
            <a:avLst/>
          </a:prstGeom>
          <a:solidFill>
            <a:srgbClr val="5B8CFF"/>
          </a:solidFill>
          <a:ln w="1270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555480" y="1993392"/>
            <a:ext cx="11704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B1020"/>
                </a:solidFill>
              </a:rPr>
              <a:t>5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9226296" y="3246120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Neural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7FAFC"/>
                </a:solidFill>
              </a:rPr>
              <a:t>Network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9116568" y="3977640"/>
            <a:ext cx="2029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small MLP learns patterns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828800" y="5577840"/>
            <a:ext cx="8412480" cy="31089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7FAFC"/>
                </a:solidFill>
              </a:rPr>
              <a:t>All models used the same holdout test set, so the comparison is apples-to-apples.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Results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Random Forest performed best overall on the holdout test set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6</a:t>
            </a:r>
            <a:endParaRPr lang="en-US" sz="850" dirty="0"/>
          </a:p>
        </p:txBody>
      </p:sp>
      <p:pic>
        <p:nvPicPr>
          <p:cNvPr id="7" name="Image 0" descr="/mnt/data/audio_outputs/model_accura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687068"/>
            <a:ext cx="5760720" cy="30723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12280" y="117043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7E8A5"/>
                </a:solidFill>
              </a:rPr>
              <a:t>Best model: Random Forest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967728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7E8A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86.9%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967728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accuracy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104888" y="2404872"/>
            <a:ext cx="1143000" cy="0"/>
          </a:xfrm>
          <a:prstGeom prst="line">
            <a:avLst/>
          </a:prstGeom>
          <a:noFill/>
          <a:ln w="15240">
            <a:solidFill>
              <a:srgbClr val="67E8A5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458200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6D1D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0.869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8458200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macro F1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595360" y="2404872"/>
            <a:ext cx="1143000" cy="0"/>
          </a:xfrm>
          <a:prstGeom prst="line">
            <a:avLst/>
          </a:prstGeom>
          <a:noFill/>
          <a:ln w="15240">
            <a:solidFill>
              <a:srgbClr val="36D1DC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9948672" y="205740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84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0.479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9948672" y="24871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7C2D9"/>
                </a:solidFill>
              </a:rPr>
              <a:t>RMSE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10085832" y="2404872"/>
            <a:ext cx="1143000" cy="0"/>
          </a:xfrm>
          <a:prstGeom prst="line">
            <a:avLst/>
          </a:prstGeom>
          <a:noFill/>
          <a:ln w="15240">
            <a:solidFill>
              <a:srgbClr val="FFB84D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6492240" y="340156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Model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887968" y="340156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Acc.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9802368" y="3401568"/>
            <a:ext cx="7498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RMSE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10716768" y="3401568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36D1DC"/>
                </a:solidFill>
              </a:rPr>
              <a:t>R²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6492240" y="373075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Random Forest</a:t>
            </a:r>
            <a:endParaRPr lang="en-US" sz="1020" dirty="0"/>
          </a:p>
        </p:txBody>
      </p:sp>
      <p:sp>
        <p:nvSpPr>
          <p:cNvPr id="23" name="Text 20"/>
          <p:cNvSpPr/>
          <p:nvPr/>
        </p:nvSpPr>
        <p:spPr>
          <a:xfrm>
            <a:off x="8833104" y="3730752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86.9%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9756648" y="3730752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0.479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10634472" y="3730752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7E8A5"/>
                </a:solidFill>
              </a:rPr>
              <a:t>0.654</a:t>
            </a:r>
            <a:endParaRPr lang="en-US" sz="1020" dirty="0"/>
          </a:p>
        </p:txBody>
      </p:sp>
      <p:sp>
        <p:nvSpPr>
          <p:cNvPr id="26" name="Text 23"/>
          <p:cNvSpPr/>
          <p:nvPr/>
        </p:nvSpPr>
        <p:spPr>
          <a:xfrm>
            <a:off x="6492240" y="405993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XGBoost</a:t>
            </a:r>
            <a:endParaRPr lang="en-US" sz="1020" dirty="0"/>
          </a:p>
        </p:txBody>
      </p:sp>
      <p:sp>
        <p:nvSpPr>
          <p:cNvPr id="27" name="Text 24"/>
          <p:cNvSpPr/>
          <p:nvPr/>
        </p:nvSpPr>
        <p:spPr>
          <a:xfrm>
            <a:off x="8833104" y="4059936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86.1%</a:t>
            </a:r>
            <a:endParaRPr lang="en-US" sz="1020" dirty="0"/>
          </a:p>
        </p:txBody>
      </p:sp>
      <p:sp>
        <p:nvSpPr>
          <p:cNvPr id="28" name="Text 25"/>
          <p:cNvSpPr/>
          <p:nvPr/>
        </p:nvSpPr>
        <p:spPr>
          <a:xfrm>
            <a:off x="9756648" y="405993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0.536</a:t>
            </a:r>
            <a:endParaRPr lang="en-US" sz="1020" dirty="0"/>
          </a:p>
        </p:txBody>
      </p:sp>
      <p:sp>
        <p:nvSpPr>
          <p:cNvPr id="29" name="Text 26"/>
          <p:cNvSpPr/>
          <p:nvPr/>
        </p:nvSpPr>
        <p:spPr>
          <a:xfrm>
            <a:off x="10634472" y="4059936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0.568</a:t>
            </a:r>
            <a:endParaRPr lang="en-US" sz="1020" dirty="0"/>
          </a:p>
        </p:txBody>
      </p:sp>
      <p:sp>
        <p:nvSpPr>
          <p:cNvPr id="30" name="Text 27"/>
          <p:cNvSpPr/>
          <p:nvPr/>
        </p:nvSpPr>
        <p:spPr>
          <a:xfrm>
            <a:off x="6492240" y="438912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Logistic Regression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8833104" y="4389120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86.1%</a:t>
            </a:r>
            <a:endParaRPr lang="en-US" sz="1020" dirty="0"/>
          </a:p>
        </p:txBody>
      </p:sp>
      <p:sp>
        <p:nvSpPr>
          <p:cNvPr id="32" name="Text 29"/>
          <p:cNvSpPr/>
          <p:nvPr/>
        </p:nvSpPr>
        <p:spPr>
          <a:xfrm>
            <a:off x="9756648" y="438912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0.462</a:t>
            </a:r>
            <a:endParaRPr lang="en-US" sz="1020" dirty="0"/>
          </a:p>
        </p:txBody>
      </p:sp>
      <p:sp>
        <p:nvSpPr>
          <p:cNvPr id="33" name="Text 30"/>
          <p:cNvSpPr/>
          <p:nvPr/>
        </p:nvSpPr>
        <p:spPr>
          <a:xfrm>
            <a:off x="10634472" y="4389120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0.679</a:t>
            </a:r>
            <a:endParaRPr lang="en-US" sz="1020" dirty="0"/>
          </a:p>
        </p:txBody>
      </p:sp>
      <p:sp>
        <p:nvSpPr>
          <p:cNvPr id="34" name="Text 31"/>
          <p:cNvSpPr/>
          <p:nvPr/>
        </p:nvSpPr>
        <p:spPr>
          <a:xfrm>
            <a:off x="6492240" y="471830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KNN</a:t>
            </a:r>
            <a:endParaRPr lang="en-US" sz="1020" dirty="0"/>
          </a:p>
        </p:txBody>
      </p:sp>
      <p:sp>
        <p:nvSpPr>
          <p:cNvPr id="35" name="Text 32"/>
          <p:cNvSpPr/>
          <p:nvPr/>
        </p:nvSpPr>
        <p:spPr>
          <a:xfrm>
            <a:off x="8833104" y="4718304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76.2%</a:t>
            </a:r>
            <a:endParaRPr lang="en-US" sz="1020" dirty="0"/>
          </a:p>
        </p:txBody>
      </p:sp>
      <p:sp>
        <p:nvSpPr>
          <p:cNvPr id="36" name="Text 33"/>
          <p:cNvSpPr/>
          <p:nvPr/>
        </p:nvSpPr>
        <p:spPr>
          <a:xfrm>
            <a:off x="9756648" y="471830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0.695</a:t>
            </a:r>
            <a:endParaRPr lang="en-US" sz="1020" dirty="0"/>
          </a:p>
        </p:txBody>
      </p:sp>
      <p:sp>
        <p:nvSpPr>
          <p:cNvPr id="37" name="Text 34"/>
          <p:cNvSpPr/>
          <p:nvPr/>
        </p:nvSpPr>
        <p:spPr>
          <a:xfrm>
            <a:off x="10634472" y="4718304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0.271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492240" y="50474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Neural Network</a:t>
            </a:r>
            <a:endParaRPr lang="en-US" sz="1020" dirty="0"/>
          </a:p>
        </p:txBody>
      </p:sp>
      <p:sp>
        <p:nvSpPr>
          <p:cNvPr id="39" name="Text 36"/>
          <p:cNvSpPr/>
          <p:nvPr/>
        </p:nvSpPr>
        <p:spPr>
          <a:xfrm>
            <a:off x="8833104" y="5047488"/>
            <a:ext cx="7589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69.7%</a:t>
            </a:r>
            <a:endParaRPr lang="en-US" sz="1020" dirty="0"/>
          </a:p>
        </p:txBody>
      </p:sp>
      <p:sp>
        <p:nvSpPr>
          <p:cNvPr id="40" name="Text 37"/>
          <p:cNvSpPr/>
          <p:nvPr/>
        </p:nvSpPr>
        <p:spPr>
          <a:xfrm>
            <a:off x="9756648" y="50474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0.805</a:t>
            </a:r>
            <a:endParaRPr lang="en-US" sz="1020" dirty="0"/>
          </a:p>
        </p:txBody>
      </p:sp>
      <p:sp>
        <p:nvSpPr>
          <p:cNvPr id="41" name="Text 38"/>
          <p:cNvSpPr/>
          <p:nvPr/>
        </p:nvSpPr>
        <p:spPr>
          <a:xfrm>
            <a:off x="10634472" y="5047488"/>
            <a:ext cx="7132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20" dirty="0">
                <a:solidFill>
                  <a:srgbClr val="F7FAFC"/>
                </a:solidFill>
              </a:rPr>
              <a:t>0.024</a:t>
            </a:r>
            <a:endParaRPr lang="en-US" sz="1020" dirty="0"/>
          </a:p>
        </p:txBody>
      </p:sp>
      <p:sp>
        <p:nvSpPr>
          <p:cNvPr id="42" name="Text 39"/>
          <p:cNvSpPr/>
          <p:nvPr/>
        </p:nvSpPr>
        <p:spPr>
          <a:xfrm>
            <a:off x="6556248" y="5669280"/>
            <a:ext cx="48463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70" dirty="0">
                <a:solidFill>
                  <a:srgbClr val="B7C2D9"/>
                </a:solidFill>
              </a:rPr>
              <a:t>Note: RMSE and R² are calculated on encoded class labels because the assignment asked for them; accuracy/F1 are more natural for classification.</a:t>
            </a:r>
            <a:endParaRPr lang="en-US" sz="117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model succeeds and misses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The main errors were between cat and dog clips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7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77240" y="1115568"/>
            <a:ext cx="1051560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B7C2D9"/>
                </a:solidFill>
              </a:rPr>
              <a:t>Random Forest got the strongest accuracy. Logistic Regression slightly led on RMSE/R² because encoded-label distance can reward some wrong classes more than others.</a:t>
            </a:r>
            <a:endParaRPr lang="en-US" sz="1350" dirty="0"/>
          </a:p>
        </p:txBody>
      </p:sp>
      <p:pic>
        <p:nvPicPr>
          <p:cNvPr id="8" name="Image 0" descr="/mnt/data/audio_outputs/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87741"/>
            <a:ext cx="4069080" cy="3551197"/>
          </a:xfrm>
          <a:prstGeom prst="rect">
            <a:avLst/>
          </a:prstGeom>
        </p:spPr>
      </p:pic>
      <p:pic>
        <p:nvPicPr>
          <p:cNvPr id="9" name="Image 1" descr="/mnt/data/audio_outputs/model_rm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528" y="1691640"/>
            <a:ext cx="3857625" cy="2057400"/>
          </a:xfrm>
          <a:prstGeom prst="rect">
            <a:avLst/>
          </a:prstGeom>
        </p:spPr>
      </p:pic>
      <p:pic>
        <p:nvPicPr>
          <p:cNvPr id="10" name="Image 2" descr="/mnt/data/audio_outputs/model_r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6528" y="4160520"/>
            <a:ext cx="3857625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7FA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Feature importances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Tree models relied on frequency shape and spectral distribution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8</a:t>
            </a:r>
            <a:endParaRPr lang="en-US" sz="850" dirty="0"/>
          </a:p>
        </p:txBody>
      </p:sp>
      <p:pic>
        <p:nvPicPr>
          <p:cNvPr id="7" name="Image 0" descr="/mnt/data/audio_outputs/rf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22489"/>
            <a:ext cx="5532120" cy="3457575"/>
          </a:xfrm>
          <a:prstGeom prst="rect">
            <a:avLst/>
          </a:prstGeom>
        </p:spPr>
      </p:pic>
      <p:pic>
        <p:nvPicPr>
          <p:cNvPr id="8" name="Image 1" descr="/mnt/data/audio_outputs/xgb_feature_import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22489"/>
            <a:ext cx="5532120" cy="34575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25880" y="5779008"/>
            <a:ext cx="94640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7FAFC"/>
                </a:solidFill>
              </a:rPr>
              <a:t>The most useful signals were not the file name or label text. They came from acoustic structure: energy, frequency balance, and cepstral/spectral shape.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37160"/>
            <a:ext cx="12191695" cy="0"/>
          </a:xfrm>
          <a:prstGeom prst="line">
            <a:avLst/>
          </a:prstGeom>
          <a:noFill/>
          <a:ln w="25400">
            <a:solidFill>
              <a:srgbClr val="36D1DC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784848"/>
            <a:ext cx="12191695" cy="0"/>
          </a:xfrm>
          <a:prstGeom prst="line">
            <a:avLst/>
          </a:prstGeom>
          <a:noFill/>
          <a:ln w="15240">
            <a:solidFill>
              <a:srgbClr val="5B8CF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502920" y="3474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Conclusion &amp; Next Steps</a:t>
            </a:r>
          </a:p>
        </p:txBody>
      </p:sp>
      <p:sp>
        <p:nvSpPr>
          <p:cNvPr id="5" name="Text 3"/>
          <p:cNvSpPr/>
          <p:nvPr/>
        </p:nvSpPr>
        <p:spPr>
          <a:xfrm>
            <a:off x="521208" y="85953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7C2D9"/>
                </a:solidFill>
              </a:rPr>
              <a:t>The project is GitHub-ready after approval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555480" y="6510528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7890B2"/>
                </a:solidFill>
              </a:rPr>
              <a:t>Audio Classification Project  •  9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28016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6D1DC"/>
                </a:solidFill>
              </a:rPr>
              <a:t>Main takeaway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1938528"/>
            <a:ext cx="4892040" cy="914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F7FAFC"/>
                </a:solidFill>
              </a:rPr>
              <a:t>Hand-built audio features were enough to classify bird, cat, and dog clips with about 87% accuracy using Random Forest.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777240" y="3090672"/>
            <a:ext cx="4526280" cy="0"/>
          </a:xfrm>
          <a:prstGeom prst="line">
            <a:avLst/>
          </a:prstGeom>
          <a:noFill/>
          <a:ln w="25400">
            <a:solidFill>
              <a:srgbClr val="36D1DC">
                <a:alpha val="8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00800" y="133502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B84D"/>
                </a:solidFill>
              </a:rPr>
              <a:t>WHAT I WOULD IMPROVE NEXT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446520" y="1783080"/>
            <a:ext cx="49377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Use MFCCs from librosa directly and tune model hyperparameters.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Try a CNN on spectrogram images instead of hand-built features.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Add cross-validation for a more stable model comparison.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400800" y="41605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7E8A5"/>
                </a:solidFill>
              </a:rPr>
              <a:t>SUBMISSION PLAN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46520" y="4572000"/>
            <a:ext cx="4754880" cy="113385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Email instructor the selected project for approval.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Create GitHub repo with code, slides, and results.</a:t>
            </a:r>
            <a:endParaRPr lang="en-US" sz="1600" dirty="0"/>
          </a:p>
          <a:p>
            <a:pPr marL="152400" indent="-152400">
              <a:buSzPct val="100000"/>
              <a:buChar char="•"/>
            </a:pPr>
            <a:r>
              <a:rPr lang="en-US" sz="1600" dirty="0">
                <a:solidFill>
                  <a:srgbClr val="F7FAFC"/>
                </a:solidFill>
              </a:rPr>
              <a:t>Submit GitHub link to Canvas.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Loyola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Audio Classification: Bird vs Cat vs Dog</dc:title>
  <dc:subject>Audio Classification Project</dc:subject>
  <dc:creator>Ethan DeLaRosa</dc:creator>
  <cp:lastModifiedBy>Ethan DeLaRosa</cp:lastModifiedBy>
  <cp:revision>1</cp:revision>
  <dcterms:created xsi:type="dcterms:W3CDTF">2026-04-28T22:37:00Z</dcterms:created>
  <dcterms:modified xsi:type="dcterms:W3CDTF">2026-04-28T22:37:00Z</dcterms:modified>
</cp:coreProperties>
</file>