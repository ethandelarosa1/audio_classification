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48" d="100"/>
          <a:sy n="48" d="100"/>
        </p:scale>
        <p:origin x="53" y="8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16752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jpeg"/><Relationship Id="rId4" Type="http://schemas.openxmlformats.org/officeDocument/2006/relationships/image" Target="../media/image1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"/>
            <a:ext cx="12191695" cy="0"/>
          </a:xfrm>
          <a:prstGeom prst="line">
            <a:avLst/>
          </a:prstGeom>
          <a:noFill/>
          <a:ln w="25400">
            <a:solidFill>
              <a:srgbClr val="36D1D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2191695" cy="0"/>
          </a:xfrm>
          <a:prstGeom prst="line">
            <a:avLst/>
          </a:prstGeom>
          <a:noFill/>
          <a:ln w="15240">
            <a:solidFill>
              <a:srgbClr val="5B8CF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" name="Image 0" descr="/mnt/data/audio_outputs/wave_bi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7748" y="777240"/>
            <a:ext cx="3712464" cy="1325880"/>
          </a:xfrm>
          <a:prstGeom prst="rect">
            <a:avLst/>
          </a:prstGeom>
        </p:spPr>
      </p:pic>
      <p:pic>
        <p:nvPicPr>
          <p:cNvPr id="5" name="Image 1" descr="/mnt/data/audio_outputs/wave_c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7748" y="2542032"/>
            <a:ext cx="3712464" cy="1325880"/>
          </a:xfrm>
          <a:prstGeom prst="rect">
            <a:avLst/>
          </a:prstGeom>
        </p:spPr>
      </p:pic>
      <p:pic>
        <p:nvPicPr>
          <p:cNvPr id="6" name="Image 2" descr="/mnt/data/audio_outputs/wave_do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7748" y="4315968"/>
            <a:ext cx="3712464" cy="132588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66928" y="1243584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Audio Classification</a:t>
            </a:r>
            <a:endParaRPr lang="en-US" sz="3800" dirty="0"/>
          </a:p>
        </p:txBody>
      </p:sp>
      <p:sp>
        <p:nvSpPr>
          <p:cNvPr id="8" name="Text 3"/>
          <p:cNvSpPr/>
          <p:nvPr/>
        </p:nvSpPr>
        <p:spPr>
          <a:xfrm>
            <a:off x="594360" y="1847088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6D1D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Bird vs Cat vs Dog</a:t>
            </a:r>
            <a:endParaRPr lang="en-US" sz="3600" dirty="0"/>
          </a:p>
        </p:txBody>
      </p:sp>
      <p:sp>
        <p:nvSpPr>
          <p:cNvPr id="9" name="Text 4"/>
          <p:cNvSpPr/>
          <p:nvPr/>
        </p:nvSpPr>
        <p:spPr>
          <a:xfrm>
            <a:off x="621792" y="2587752"/>
            <a:ext cx="484632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B7C2D9"/>
                </a:solidFill>
              </a:rPr>
              <a:t>Using acoustic features and five machine learning models to classify short spoken-word audio clips.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694944" y="406908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6D1D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610</a:t>
            </a:r>
            <a:endParaRPr lang="en-US" sz="2600" dirty="0"/>
          </a:p>
        </p:txBody>
      </p:sp>
      <p:sp>
        <p:nvSpPr>
          <p:cNvPr id="11" name="Text 6"/>
          <p:cNvSpPr/>
          <p:nvPr/>
        </p:nvSpPr>
        <p:spPr>
          <a:xfrm>
            <a:off x="694944" y="4498848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7C2D9"/>
                </a:solidFill>
              </a:rPr>
              <a:t>audio clips</a:t>
            </a:r>
            <a:endParaRPr lang="en-US" sz="950" dirty="0"/>
          </a:p>
        </p:txBody>
      </p:sp>
      <p:sp>
        <p:nvSpPr>
          <p:cNvPr id="12" name="Shape 7"/>
          <p:cNvSpPr/>
          <p:nvPr/>
        </p:nvSpPr>
        <p:spPr>
          <a:xfrm>
            <a:off x="832104" y="4416552"/>
            <a:ext cx="1024128" cy="0"/>
          </a:xfrm>
          <a:prstGeom prst="line">
            <a:avLst/>
          </a:prstGeom>
          <a:noFill/>
          <a:ln w="15240">
            <a:solidFill>
              <a:srgbClr val="36D1DC">
                <a:alpha val="8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8"/>
          <p:cNvSpPr/>
          <p:nvPr/>
        </p:nvSpPr>
        <p:spPr>
          <a:xfrm>
            <a:off x="2139696" y="406908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B8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27</a:t>
            </a:r>
            <a:endParaRPr lang="en-US" sz="2600" dirty="0"/>
          </a:p>
        </p:txBody>
      </p:sp>
      <p:sp>
        <p:nvSpPr>
          <p:cNvPr id="14" name="Text 9"/>
          <p:cNvSpPr/>
          <p:nvPr/>
        </p:nvSpPr>
        <p:spPr>
          <a:xfrm>
            <a:off x="2139696" y="4498848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7C2D9"/>
                </a:solidFill>
              </a:rPr>
              <a:t>numeric features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2276856" y="4416552"/>
            <a:ext cx="1024128" cy="0"/>
          </a:xfrm>
          <a:prstGeom prst="line">
            <a:avLst/>
          </a:prstGeom>
          <a:noFill/>
          <a:ln w="15240">
            <a:solidFill>
              <a:srgbClr val="FFB84D">
                <a:alpha val="8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1"/>
          <p:cNvSpPr/>
          <p:nvPr/>
        </p:nvSpPr>
        <p:spPr>
          <a:xfrm>
            <a:off x="3584448" y="406908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67E8A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2"/>
          <p:cNvSpPr/>
          <p:nvPr/>
        </p:nvSpPr>
        <p:spPr>
          <a:xfrm>
            <a:off x="3584448" y="4498848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7C2D9"/>
                </a:solidFill>
              </a:rPr>
              <a:t>models tested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3721608" y="4416552"/>
            <a:ext cx="1024128" cy="0"/>
          </a:xfrm>
          <a:prstGeom prst="line">
            <a:avLst/>
          </a:prstGeom>
          <a:noFill/>
          <a:ln w="15240">
            <a:solidFill>
              <a:srgbClr val="67E8A5">
                <a:alpha val="8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4"/>
          <p:cNvSpPr/>
          <p:nvPr/>
        </p:nvSpPr>
        <p:spPr>
          <a:xfrm>
            <a:off x="658368" y="580644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dirty="0"/>
              <a:t>Presentation: May 6, 2026 • 2–4pm</a:t>
            </a:r>
          </a:p>
          <a:p>
            <a:r>
              <a:rPr dirty="0"/>
              <a:t>Ethan DeLaRosa</a:t>
            </a:r>
          </a:p>
        </p:txBody>
      </p:sp>
      <p:pic>
        <p:nvPicPr>
          <p:cNvPr id="20" name="Picture 19" descr="Keeping Parrots with Other Pets ...">
            <a:extLst>
              <a:ext uri="{FF2B5EF4-FFF2-40B4-BE49-F238E27FC236}">
                <a16:creationId xmlns:a16="http://schemas.microsoft.com/office/drawing/2014/main" id="{37148FEA-5E60-0272-0C59-3390C77CD2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61871" y="4920615"/>
            <a:ext cx="2782113" cy="18002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"/>
            <a:ext cx="12191695" cy="0"/>
          </a:xfrm>
          <a:prstGeom prst="line">
            <a:avLst/>
          </a:prstGeom>
          <a:noFill/>
          <a:ln w="25400">
            <a:solidFill>
              <a:srgbClr val="36D1D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2191695" cy="0"/>
          </a:xfrm>
          <a:prstGeom prst="line">
            <a:avLst/>
          </a:prstGeom>
          <a:noFill/>
          <a:ln w="15240">
            <a:solidFill>
              <a:srgbClr val="5B8C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 trying to solve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21208" y="85953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7C2D9"/>
                </a:solidFill>
              </a:rPr>
              <a:t>Can a program recognize an animal word from the sound alone?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555480" y="6510528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890B2"/>
                </a:solidFill>
              </a:rPr>
              <a:t>Audio Classification Project  •  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31520" y="15910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6D1DC"/>
                </a:solidFill>
              </a:rPr>
              <a:t>Input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93852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7FAFC"/>
                </a:solidFill>
              </a:rPr>
              <a:t>short .wav clip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926080" y="1901952"/>
            <a:ext cx="1005840" cy="411480"/>
          </a:xfrm>
          <a:prstGeom prst="chevron">
            <a:avLst/>
          </a:prstGeom>
          <a:solidFill>
            <a:srgbClr val="5B8CFF"/>
          </a:solidFill>
          <a:ln w="12700">
            <a:solidFill>
              <a:srgbClr val="5B8C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297680" y="159105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B84D"/>
                </a:solidFill>
              </a:rPr>
              <a:t>Features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297680" y="19385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F7FAFC"/>
                </a:solidFill>
              </a:rPr>
              <a:t>loudness, pitch range, spectral shape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0" y="1901952"/>
            <a:ext cx="1005840" cy="411480"/>
          </a:xfrm>
          <a:prstGeom prst="chevron">
            <a:avLst/>
          </a:prstGeom>
          <a:solidFill>
            <a:srgbClr val="5B8CFF"/>
          </a:solidFill>
          <a:ln w="12700">
            <a:solidFill>
              <a:srgbClr val="5B8C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8732520" y="15910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7E8A5"/>
                </a:solidFill>
              </a:rPr>
              <a:t>Prediction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732520" y="193852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7FAFC"/>
                </a:solidFill>
              </a:rPr>
              <a:t>bird / cat / dog</a:t>
            </a:r>
            <a:endParaRPr lang="en-US" sz="1700" dirty="0"/>
          </a:p>
        </p:txBody>
      </p:sp>
      <p:pic>
        <p:nvPicPr>
          <p:cNvPr id="15" name="Image 0" descr="/mnt/data/audio_outputs/wave_c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3703320"/>
            <a:ext cx="3712464" cy="132588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5486400" y="3794760"/>
            <a:ext cx="5394960" cy="11430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F7FAFC"/>
                </a:solidFill>
              </a:rPr>
              <a:t>The challenge: raw audio is not like a spreadsheet. The model needs numerical features that capture what makes each word sound different.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0" y="5138928"/>
            <a:ext cx="4754880" cy="0"/>
          </a:xfrm>
          <a:prstGeom prst="line">
            <a:avLst/>
          </a:prstGeom>
          <a:noFill/>
          <a:ln w="25400">
            <a:solidFill>
              <a:srgbClr val="36D1DC">
                <a:alpha val="7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"/>
            <a:ext cx="12191695" cy="0"/>
          </a:xfrm>
          <a:prstGeom prst="line">
            <a:avLst/>
          </a:prstGeom>
          <a:noFill/>
          <a:ln w="25400">
            <a:solidFill>
              <a:srgbClr val="36D1D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2191695" cy="0"/>
          </a:xfrm>
          <a:prstGeom prst="line">
            <a:avLst/>
          </a:prstGeom>
          <a:noFill/>
          <a:ln w="15240">
            <a:solidFill>
              <a:srgbClr val="5B8C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 overview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21208" y="85953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7C2D9"/>
                </a:solidFill>
              </a:rPr>
              <a:t>Kaggle audio clips labeled as bird, cat, or dog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555480" y="6510528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890B2"/>
                </a:solidFill>
              </a:rPr>
              <a:t>Audio Classification Project  •  3</a:t>
            </a:r>
            <a:endParaRPr lang="en-US" sz="850" dirty="0"/>
          </a:p>
        </p:txBody>
      </p:sp>
      <p:pic>
        <p:nvPicPr>
          <p:cNvPr id="7" name="Image 0" descr="/mnt/data/audio_outputs/class_bal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31155"/>
            <a:ext cx="4983480" cy="320366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92240" y="15361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7FAFC"/>
                </a:solidFill>
              </a:rPr>
              <a:t>Class balance is almost even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6537960" y="2221992"/>
            <a:ext cx="3017520" cy="960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B7C2D9"/>
                </a:solidFill>
              </a:rPr>
              <a:t>Bird: 193 clips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B7C2D9"/>
                </a:solidFill>
              </a:rPr>
              <a:t>Cat: 207 clips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B7C2D9"/>
                </a:solidFill>
              </a:rPr>
              <a:t>Dog: 210 clips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6537960" y="3767328"/>
            <a:ext cx="4297680" cy="10789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F7FAFC"/>
                </a:solidFill>
              </a:rPr>
              <a:t>Because no class dominates the data, accuracy is a fair first look, and a stratified train/test split keeps every class represented.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583680" y="53492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7E8A5"/>
                </a:solidFill>
              </a:rPr>
              <a:t>Split: 80% train / 20% test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"/>
            <a:ext cx="12191695" cy="0"/>
          </a:xfrm>
          <a:prstGeom prst="line">
            <a:avLst/>
          </a:prstGeom>
          <a:noFill/>
          <a:ln w="25400">
            <a:solidFill>
              <a:srgbClr val="36D1D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2191695" cy="0"/>
          </a:xfrm>
          <a:prstGeom prst="line">
            <a:avLst/>
          </a:prstGeom>
          <a:noFill/>
          <a:ln w="15240">
            <a:solidFill>
              <a:srgbClr val="5B8C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Method used to solve it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21208" y="85953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7C2D9"/>
                </a:solidFill>
              </a:rPr>
              <a:t>Cleaning the data and converting audio into ML-ready features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555480" y="6510528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890B2"/>
                </a:solidFill>
              </a:rPr>
              <a:t>Audio Classification Project  •  4</a:t>
            </a:r>
            <a:endParaRPr lang="en-US" sz="850" dirty="0"/>
          </a:p>
        </p:txBody>
      </p:sp>
      <p:pic>
        <p:nvPicPr>
          <p:cNvPr id="7" name="Image 0" descr="/mnt/data/audio_outputs/wave_d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9713" y="1115568"/>
            <a:ext cx="3123590" cy="1115568"/>
          </a:xfrm>
          <a:prstGeom prst="rect">
            <a:avLst/>
          </a:prstGeom>
        </p:spPr>
      </p:pic>
      <p:pic>
        <p:nvPicPr>
          <p:cNvPr id="8" name="Image 1" descr="/mnt/data/audio_outputs/wave_bi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9713" y="2578608"/>
            <a:ext cx="3123590" cy="1115568"/>
          </a:xfrm>
          <a:prstGeom prst="rect">
            <a:avLst/>
          </a:prstGeom>
        </p:spPr>
      </p:pic>
      <p:pic>
        <p:nvPicPr>
          <p:cNvPr id="9" name="Image 2" descr="/mnt/data/audio_outputs/wave_c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9713" y="4041648"/>
            <a:ext cx="3123590" cy="111556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419088" y="120700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6D1DC"/>
                </a:solidFill>
              </a:rPr>
              <a:t>PREPROCESSING DECISIONS</a:t>
            </a:r>
            <a:endParaRPr lang="en-US" sz="950" dirty="0"/>
          </a:p>
        </p:txBody>
      </p:sp>
      <p:sp>
        <p:nvSpPr>
          <p:cNvPr id="11" name="Text 6"/>
          <p:cNvSpPr/>
          <p:nvPr/>
        </p:nvSpPr>
        <p:spPr>
          <a:xfrm>
            <a:off x="6446520" y="1627632"/>
            <a:ext cx="4754880" cy="3017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530" dirty="0">
                <a:solidFill>
                  <a:srgbClr val="F7FAFC"/>
                </a:solidFill>
              </a:rPr>
              <a:t>Missing values: checked feature table; none found, but median imputation is in every model pipeline.</a:t>
            </a:r>
            <a:endParaRPr lang="en-US" sz="1530" dirty="0"/>
          </a:p>
          <a:p>
            <a:pPr marL="152400" indent="-152400">
              <a:buSzPct val="100000"/>
              <a:buChar char="•"/>
            </a:pPr>
            <a:r>
              <a:rPr lang="en-US" sz="1530" dirty="0">
                <a:solidFill>
                  <a:srgbClr val="F7FAFC"/>
                </a:solidFill>
              </a:rPr>
              <a:t>Outliers: clipped numeric audio features at the 1st and 99th percentiles.</a:t>
            </a:r>
            <a:endParaRPr lang="en-US" sz="1530" dirty="0"/>
          </a:p>
          <a:p>
            <a:pPr marL="152400" indent="-152400">
              <a:buSzPct val="100000"/>
              <a:buChar char="•"/>
            </a:pPr>
            <a:r>
              <a:rPr lang="en-US" sz="1530" dirty="0">
                <a:solidFill>
                  <a:srgbClr val="F7FAFC"/>
                </a:solidFill>
              </a:rPr>
              <a:t>Categorical column: label encoded bird/cat/dog as numbers for modeling.</a:t>
            </a:r>
            <a:endParaRPr lang="en-US" sz="1530" dirty="0"/>
          </a:p>
          <a:p>
            <a:pPr marL="152400" indent="-152400">
              <a:buSzPct val="100000"/>
              <a:buChar char="•"/>
            </a:pPr>
            <a:r>
              <a:rPr lang="en-US" sz="1530" dirty="0">
                <a:solidFill>
                  <a:srgbClr val="F7FAFC"/>
                </a:solidFill>
              </a:rPr>
              <a:t>Imbalance: classes are close; used stratified split and balanced class weights where available.</a:t>
            </a:r>
            <a:endParaRPr lang="en-US" sz="1530" dirty="0"/>
          </a:p>
        </p:txBody>
      </p:sp>
      <p:sp>
        <p:nvSpPr>
          <p:cNvPr id="12" name="Text 7"/>
          <p:cNvSpPr/>
          <p:nvPr/>
        </p:nvSpPr>
        <p:spPr>
          <a:xfrm>
            <a:off x="6419088" y="50749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B84D"/>
                </a:solidFill>
              </a:rPr>
              <a:t>FEATURES EXTRACTED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6446520" y="5413248"/>
            <a:ext cx="484632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B7C2D9"/>
                </a:solidFill>
              </a:rPr>
              <a:t>RMS energy • zero crossing rate • spectral centroid • bandwidth • rolloff • entropy • frequency-band energy • cepstral shape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"/>
            <a:ext cx="12191695" cy="0"/>
          </a:xfrm>
          <a:prstGeom prst="line">
            <a:avLst/>
          </a:prstGeom>
          <a:noFill/>
          <a:ln w="25400">
            <a:solidFill>
              <a:srgbClr val="36D1D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2191695" cy="0"/>
          </a:xfrm>
          <a:prstGeom prst="line">
            <a:avLst/>
          </a:prstGeom>
          <a:noFill/>
          <a:ln w="15240">
            <a:solidFill>
              <a:srgbClr val="5B8C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Models trained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21208" y="85953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7C2D9"/>
                </a:solidFill>
              </a:rPr>
              <a:t>Five different approaches were tested on the same features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555480" y="6510528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890B2"/>
                </a:solidFill>
              </a:rPr>
              <a:t>Audio Classification Project  •  5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77240" y="1737360"/>
            <a:ext cx="1170432" cy="1170432"/>
          </a:xfrm>
          <a:prstGeom prst="ellipse">
            <a:avLst/>
          </a:prstGeom>
          <a:solidFill>
            <a:srgbClr val="B78CFF"/>
          </a:solidFill>
          <a:ln w="12700">
            <a:solidFill>
              <a:srgbClr val="B78C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77240" y="1993392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1020"/>
                </a:solidFill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48056" y="324612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AFC"/>
                </a:solidFill>
              </a:rPr>
              <a:t>KNN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38328" y="3977640"/>
            <a:ext cx="2029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B7C2D9"/>
                </a:solidFill>
              </a:rPr>
              <a:t>nearby examples vote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971800" y="1737360"/>
            <a:ext cx="1170432" cy="1170432"/>
          </a:xfrm>
          <a:prstGeom prst="ellipse">
            <a:avLst/>
          </a:prstGeom>
          <a:solidFill>
            <a:srgbClr val="36D1DC"/>
          </a:solidFill>
          <a:ln w="12700">
            <a:solidFill>
              <a:srgbClr val="36D1D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971800" y="1993392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1020"/>
                </a:solidFill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642616" y="324612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AFC"/>
                </a:solidFill>
              </a:rPr>
              <a:t>Logistic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7FAFC"/>
                </a:solidFill>
              </a:rPr>
              <a:t>Regression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532888" y="3977640"/>
            <a:ext cx="2029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B7C2D9"/>
                </a:solidFill>
              </a:rPr>
              <a:t>linear decision boundary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166360" y="1737360"/>
            <a:ext cx="1170432" cy="1170432"/>
          </a:xfrm>
          <a:prstGeom prst="ellipse">
            <a:avLst/>
          </a:prstGeom>
          <a:solidFill>
            <a:srgbClr val="67E8A5"/>
          </a:solidFill>
          <a:ln w="12700">
            <a:solidFill>
              <a:srgbClr val="67E8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5166360" y="1993392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1020"/>
                </a:solidFill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837176" y="324612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AFC"/>
                </a:solidFill>
              </a:rPr>
              <a:t>Random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7FAFC"/>
                </a:solidFill>
              </a:rPr>
              <a:t>Forest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27448" y="3977640"/>
            <a:ext cx="2029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B7C2D9"/>
                </a:solidFill>
              </a:rPr>
              <a:t>many trees vote together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360920" y="1737360"/>
            <a:ext cx="1170432" cy="1170432"/>
          </a:xfrm>
          <a:prstGeom prst="ellipse">
            <a:avLst/>
          </a:prstGeom>
          <a:solidFill>
            <a:srgbClr val="FFB84D"/>
          </a:solidFill>
          <a:ln w="12700">
            <a:solidFill>
              <a:srgbClr val="FFB8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360920" y="1993392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1020"/>
                </a:solidFill>
              </a:rPr>
              <a:t>4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031736" y="324612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AFC"/>
                </a:solidFill>
              </a:rPr>
              <a:t>XGBoost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922008" y="3977640"/>
            <a:ext cx="2029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B7C2D9"/>
                </a:solidFill>
              </a:rPr>
              <a:t>boosted trees correct errors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9555480" y="1737360"/>
            <a:ext cx="1170432" cy="1170432"/>
          </a:xfrm>
          <a:prstGeom prst="ellipse">
            <a:avLst/>
          </a:prstGeom>
          <a:solidFill>
            <a:srgbClr val="5B8CFF"/>
          </a:solidFill>
          <a:ln w="12700">
            <a:solidFill>
              <a:srgbClr val="5B8C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9555480" y="1993392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1020"/>
                </a:solidFill>
              </a:rPr>
              <a:t>5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226296" y="324612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AFC"/>
                </a:solidFill>
              </a:rPr>
              <a:t>Neural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7FAFC"/>
                </a:solidFill>
              </a:rPr>
              <a:t>Network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116568" y="3977640"/>
            <a:ext cx="2029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B7C2D9"/>
                </a:solidFill>
              </a:rPr>
              <a:t>small MLP learns patterns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828800" y="5577840"/>
            <a:ext cx="841248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F7FAFC"/>
                </a:solidFill>
              </a:rPr>
              <a:t>All models used the same holdout test set, so the comparison is apples-to-apples.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"/>
            <a:ext cx="12191695" cy="0"/>
          </a:xfrm>
          <a:prstGeom prst="line">
            <a:avLst/>
          </a:prstGeom>
          <a:noFill/>
          <a:ln w="25400">
            <a:solidFill>
              <a:srgbClr val="36D1D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2191695" cy="0"/>
          </a:xfrm>
          <a:prstGeom prst="line">
            <a:avLst/>
          </a:prstGeom>
          <a:noFill/>
          <a:ln w="15240">
            <a:solidFill>
              <a:srgbClr val="5B8C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Results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21208" y="85953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7C2D9"/>
                </a:solidFill>
              </a:rPr>
              <a:t>Random Forest performed best overall on the holdout test 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555480" y="6510528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890B2"/>
                </a:solidFill>
              </a:rPr>
              <a:t>Audio Classification Project  •  6</a:t>
            </a:r>
            <a:endParaRPr lang="en-US" sz="850" dirty="0"/>
          </a:p>
        </p:txBody>
      </p:sp>
      <p:pic>
        <p:nvPicPr>
          <p:cNvPr id="7" name="Image 0" descr="/mnt/data/audio_outputs/model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687068"/>
            <a:ext cx="5760720" cy="30723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12280" y="117043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67E8A5"/>
                </a:solidFill>
              </a:rPr>
              <a:t>Best model: Random Forest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6967728" y="205740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67E8A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86.9%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6967728" y="248716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7C2D9"/>
                </a:solidFill>
              </a:rPr>
              <a:t>accuracy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104888" y="2404872"/>
            <a:ext cx="1143000" cy="0"/>
          </a:xfrm>
          <a:prstGeom prst="line">
            <a:avLst/>
          </a:prstGeom>
          <a:noFill/>
          <a:ln w="15240">
            <a:solidFill>
              <a:srgbClr val="67E8A5">
                <a:alpha val="8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8458200" y="205740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6D1D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0.869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458200" y="248716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7C2D9"/>
                </a:solidFill>
              </a:rPr>
              <a:t>macro F1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595360" y="2404872"/>
            <a:ext cx="1143000" cy="0"/>
          </a:xfrm>
          <a:prstGeom prst="line">
            <a:avLst/>
          </a:prstGeom>
          <a:noFill/>
          <a:ln w="15240">
            <a:solidFill>
              <a:srgbClr val="36D1DC">
                <a:alpha val="8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9948672" y="205740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B8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0.479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9948672" y="248716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7C2D9"/>
                </a:solidFill>
              </a:rPr>
              <a:t>RMSE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10085832" y="2404872"/>
            <a:ext cx="1143000" cy="0"/>
          </a:xfrm>
          <a:prstGeom prst="line">
            <a:avLst/>
          </a:prstGeom>
          <a:noFill/>
          <a:ln w="15240">
            <a:solidFill>
              <a:srgbClr val="FFB84D">
                <a:alpha val="8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6492240" y="340156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6D1DC"/>
                </a:solidFill>
              </a:rPr>
              <a:t>Model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887968" y="3401568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36D1DC"/>
                </a:solidFill>
              </a:rPr>
              <a:t>Acc.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9802368" y="3401568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36D1DC"/>
                </a:solidFill>
              </a:rPr>
              <a:t>RMSE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0716768" y="340156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36D1DC"/>
                </a:solidFill>
              </a:rPr>
              <a:t>R²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492240" y="37307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67E8A5"/>
                </a:solidFill>
              </a:rPr>
              <a:t>Random Forest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8833104" y="373075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20" b="1" dirty="0">
                <a:solidFill>
                  <a:srgbClr val="67E8A5"/>
                </a:solidFill>
              </a:rPr>
              <a:t>86.9%</a:t>
            </a:r>
            <a:endParaRPr lang="en-US" sz="1020" dirty="0"/>
          </a:p>
        </p:txBody>
      </p:sp>
      <p:sp>
        <p:nvSpPr>
          <p:cNvPr id="24" name="Text 21"/>
          <p:cNvSpPr/>
          <p:nvPr/>
        </p:nvSpPr>
        <p:spPr>
          <a:xfrm>
            <a:off x="9756648" y="3730752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20" b="1" dirty="0">
                <a:solidFill>
                  <a:srgbClr val="67E8A5"/>
                </a:solidFill>
              </a:rPr>
              <a:t>0.479</a:t>
            </a:r>
            <a:endParaRPr lang="en-US" sz="1020" dirty="0"/>
          </a:p>
        </p:txBody>
      </p:sp>
      <p:sp>
        <p:nvSpPr>
          <p:cNvPr id="25" name="Text 22"/>
          <p:cNvSpPr/>
          <p:nvPr/>
        </p:nvSpPr>
        <p:spPr>
          <a:xfrm>
            <a:off x="10634472" y="3730752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20" b="1" dirty="0">
                <a:solidFill>
                  <a:srgbClr val="67E8A5"/>
                </a:solidFill>
              </a:rPr>
              <a:t>0.654</a:t>
            </a:r>
            <a:endParaRPr lang="en-US" sz="1020" dirty="0"/>
          </a:p>
        </p:txBody>
      </p:sp>
      <p:sp>
        <p:nvSpPr>
          <p:cNvPr id="26" name="Text 23"/>
          <p:cNvSpPr/>
          <p:nvPr/>
        </p:nvSpPr>
        <p:spPr>
          <a:xfrm>
            <a:off x="6492240" y="405993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F7FAFC"/>
                </a:solidFill>
              </a:rPr>
              <a:t>XGBoost</a:t>
            </a:r>
            <a:endParaRPr lang="en-US" sz="1020" dirty="0"/>
          </a:p>
        </p:txBody>
      </p:sp>
      <p:sp>
        <p:nvSpPr>
          <p:cNvPr id="27" name="Text 24"/>
          <p:cNvSpPr/>
          <p:nvPr/>
        </p:nvSpPr>
        <p:spPr>
          <a:xfrm>
            <a:off x="8833104" y="405993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20" dirty="0">
                <a:solidFill>
                  <a:srgbClr val="F7FAFC"/>
                </a:solidFill>
              </a:rPr>
              <a:t>86.1%</a:t>
            </a:r>
            <a:endParaRPr lang="en-US" sz="1020" dirty="0"/>
          </a:p>
        </p:txBody>
      </p:sp>
      <p:sp>
        <p:nvSpPr>
          <p:cNvPr id="28" name="Text 25"/>
          <p:cNvSpPr/>
          <p:nvPr/>
        </p:nvSpPr>
        <p:spPr>
          <a:xfrm>
            <a:off x="9756648" y="40599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20" dirty="0">
                <a:solidFill>
                  <a:srgbClr val="F7FAFC"/>
                </a:solidFill>
              </a:rPr>
              <a:t>0.536</a:t>
            </a:r>
            <a:endParaRPr lang="en-US" sz="1020" dirty="0"/>
          </a:p>
        </p:txBody>
      </p:sp>
      <p:sp>
        <p:nvSpPr>
          <p:cNvPr id="29" name="Text 26"/>
          <p:cNvSpPr/>
          <p:nvPr/>
        </p:nvSpPr>
        <p:spPr>
          <a:xfrm>
            <a:off x="10634472" y="4059936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20" dirty="0">
                <a:solidFill>
                  <a:srgbClr val="F7FAFC"/>
                </a:solidFill>
              </a:rPr>
              <a:t>0.568</a:t>
            </a:r>
            <a:endParaRPr lang="en-US" sz="1020" dirty="0"/>
          </a:p>
        </p:txBody>
      </p:sp>
      <p:sp>
        <p:nvSpPr>
          <p:cNvPr id="30" name="Text 27"/>
          <p:cNvSpPr/>
          <p:nvPr/>
        </p:nvSpPr>
        <p:spPr>
          <a:xfrm>
            <a:off x="6492240" y="438912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F7FAFC"/>
                </a:solidFill>
              </a:rPr>
              <a:t>Logistic Regression</a:t>
            </a:r>
            <a:endParaRPr lang="en-US" sz="1020" dirty="0"/>
          </a:p>
        </p:txBody>
      </p:sp>
      <p:sp>
        <p:nvSpPr>
          <p:cNvPr id="31" name="Text 28"/>
          <p:cNvSpPr/>
          <p:nvPr/>
        </p:nvSpPr>
        <p:spPr>
          <a:xfrm>
            <a:off x="8833104" y="438912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20" dirty="0">
                <a:solidFill>
                  <a:srgbClr val="F7FAFC"/>
                </a:solidFill>
              </a:rPr>
              <a:t>86.1%</a:t>
            </a:r>
            <a:endParaRPr lang="en-US" sz="1020" dirty="0"/>
          </a:p>
        </p:txBody>
      </p:sp>
      <p:sp>
        <p:nvSpPr>
          <p:cNvPr id="32" name="Text 29"/>
          <p:cNvSpPr/>
          <p:nvPr/>
        </p:nvSpPr>
        <p:spPr>
          <a:xfrm>
            <a:off x="9756648" y="438912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20" dirty="0">
                <a:solidFill>
                  <a:srgbClr val="F7FAFC"/>
                </a:solidFill>
              </a:rPr>
              <a:t>0.462</a:t>
            </a:r>
            <a:endParaRPr lang="en-US" sz="1020" dirty="0"/>
          </a:p>
        </p:txBody>
      </p:sp>
      <p:sp>
        <p:nvSpPr>
          <p:cNvPr id="33" name="Text 30"/>
          <p:cNvSpPr/>
          <p:nvPr/>
        </p:nvSpPr>
        <p:spPr>
          <a:xfrm>
            <a:off x="10634472" y="4389120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20" dirty="0">
                <a:solidFill>
                  <a:srgbClr val="F7FAFC"/>
                </a:solidFill>
              </a:rPr>
              <a:t>0.679</a:t>
            </a:r>
            <a:endParaRPr lang="en-US" sz="1020" dirty="0"/>
          </a:p>
        </p:txBody>
      </p:sp>
      <p:sp>
        <p:nvSpPr>
          <p:cNvPr id="34" name="Text 31"/>
          <p:cNvSpPr/>
          <p:nvPr/>
        </p:nvSpPr>
        <p:spPr>
          <a:xfrm>
            <a:off x="6492240" y="4718304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F7FAFC"/>
                </a:solidFill>
              </a:rPr>
              <a:t>KNN</a:t>
            </a:r>
            <a:endParaRPr lang="en-US" sz="1020" dirty="0"/>
          </a:p>
        </p:txBody>
      </p:sp>
      <p:sp>
        <p:nvSpPr>
          <p:cNvPr id="35" name="Text 32"/>
          <p:cNvSpPr/>
          <p:nvPr/>
        </p:nvSpPr>
        <p:spPr>
          <a:xfrm>
            <a:off x="8833104" y="471830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20" dirty="0">
                <a:solidFill>
                  <a:srgbClr val="F7FAFC"/>
                </a:solidFill>
              </a:rPr>
              <a:t>76.2%</a:t>
            </a:r>
            <a:endParaRPr lang="en-US" sz="1020" dirty="0"/>
          </a:p>
        </p:txBody>
      </p:sp>
      <p:sp>
        <p:nvSpPr>
          <p:cNvPr id="36" name="Text 33"/>
          <p:cNvSpPr/>
          <p:nvPr/>
        </p:nvSpPr>
        <p:spPr>
          <a:xfrm>
            <a:off x="9756648" y="4718304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20" dirty="0">
                <a:solidFill>
                  <a:srgbClr val="F7FAFC"/>
                </a:solidFill>
              </a:rPr>
              <a:t>0.695</a:t>
            </a:r>
            <a:endParaRPr lang="en-US" sz="1020" dirty="0"/>
          </a:p>
        </p:txBody>
      </p:sp>
      <p:sp>
        <p:nvSpPr>
          <p:cNvPr id="37" name="Text 34"/>
          <p:cNvSpPr/>
          <p:nvPr/>
        </p:nvSpPr>
        <p:spPr>
          <a:xfrm>
            <a:off x="10634472" y="471830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20" dirty="0">
                <a:solidFill>
                  <a:srgbClr val="F7FAFC"/>
                </a:solidFill>
              </a:rPr>
              <a:t>0.271</a:t>
            </a:r>
            <a:endParaRPr lang="en-US" sz="1020" dirty="0"/>
          </a:p>
        </p:txBody>
      </p:sp>
      <p:sp>
        <p:nvSpPr>
          <p:cNvPr id="38" name="Text 35"/>
          <p:cNvSpPr/>
          <p:nvPr/>
        </p:nvSpPr>
        <p:spPr>
          <a:xfrm>
            <a:off x="6492240" y="504748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F7FAFC"/>
                </a:solidFill>
              </a:rPr>
              <a:t>Neural Network</a:t>
            </a:r>
            <a:endParaRPr lang="en-US" sz="1020" dirty="0"/>
          </a:p>
        </p:txBody>
      </p:sp>
      <p:sp>
        <p:nvSpPr>
          <p:cNvPr id="39" name="Text 36"/>
          <p:cNvSpPr/>
          <p:nvPr/>
        </p:nvSpPr>
        <p:spPr>
          <a:xfrm>
            <a:off x="8833104" y="504748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20" dirty="0">
                <a:solidFill>
                  <a:srgbClr val="F7FAFC"/>
                </a:solidFill>
              </a:rPr>
              <a:t>69.7%</a:t>
            </a:r>
            <a:endParaRPr lang="en-US" sz="1020" dirty="0"/>
          </a:p>
        </p:txBody>
      </p:sp>
      <p:sp>
        <p:nvSpPr>
          <p:cNvPr id="40" name="Text 37"/>
          <p:cNvSpPr/>
          <p:nvPr/>
        </p:nvSpPr>
        <p:spPr>
          <a:xfrm>
            <a:off x="9756648" y="504748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20" dirty="0">
                <a:solidFill>
                  <a:srgbClr val="F7FAFC"/>
                </a:solidFill>
              </a:rPr>
              <a:t>0.805</a:t>
            </a:r>
            <a:endParaRPr lang="en-US" sz="1020" dirty="0"/>
          </a:p>
        </p:txBody>
      </p:sp>
      <p:sp>
        <p:nvSpPr>
          <p:cNvPr id="41" name="Text 38"/>
          <p:cNvSpPr/>
          <p:nvPr/>
        </p:nvSpPr>
        <p:spPr>
          <a:xfrm>
            <a:off x="10634472" y="5047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20" dirty="0">
                <a:solidFill>
                  <a:srgbClr val="F7FAFC"/>
                </a:solidFill>
              </a:rPr>
              <a:t>0.024</a:t>
            </a:r>
            <a:endParaRPr lang="en-US" sz="1020" dirty="0"/>
          </a:p>
        </p:txBody>
      </p:sp>
      <p:sp>
        <p:nvSpPr>
          <p:cNvPr id="42" name="Text 39"/>
          <p:cNvSpPr/>
          <p:nvPr/>
        </p:nvSpPr>
        <p:spPr>
          <a:xfrm>
            <a:off x="6556248" y="5669280"/>
            <a:ext cx="4846320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B7C2D9"/>
                </a:solidFill>
              </a:rPr>
              <a:t>Note: RMSE and R² are calculated on encoded class labels because the assignment asked for them; accuracy/F1 are more natural for classification.</a:t>
            </a:r>
            <a:endParaRPr lang="en-US" sz="117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"/>
            <a:ext cx="12191695" cy="0"/>
          </a:xfrm>
          <a:prstGeom prst="line">
            <a:avLst/>
          </a:prstGeom>
          <a:noFill/>
          <a:ln w="25400">
            <a:solidFill>
              <a:srgbClr val="36D1D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2191695" cy="0"/>
          </a:xfrm>
          <a:prstGeom prst="line">
            <a:avLst/>
          </a:prstGeom>
          <a:noFill/>
          <a:ln w="15240">
            <a:solidFill>
              <a:srgbClr val="5B8C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Where the model succeeds and misses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21208" y="85953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7C2D9"/>
                </a:solidFill>
              </a:rPr>
              <a:t>The main errors were between cat and dog clips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555480" y="6510528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890B2"/>
                </a:solidFill>
              </a:rPr>
              <a:t>Audio Classification Project  •  7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77240" y="1115568"/>
            <a:ext cx="1051560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B7C2D9"/>
                </a:solidFill>
              </a:rPr>
              <a:t>Random Forest got the strongest accuracy. Logistic Regression slightly led on RMSE/R² because encoded-label distance can reward some wrong classes more than others.</a:t>
            </a:r>
            <a:endParaRPr lang="en-US" sz="1350" dirty="0"/>
          </a:p>
        </p:txBody>
      </p:sp>
      <p:pic>
        <p:nvPicPr>
          <p:cNvPr id="8" name="Image 0" descr="/mnt/data/audio_outputs/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87741"/>
            <a:ext cx="4069080" cy="3551197"/>
          </a:xfrm>
          <a:prstGeom prst="rect">
            <a:avLst/>
          </a:prstGeom>
        </p:spPr>
      </p:pic>
      <p:pic>
        <p:nvPicPr>
          <p:cNvPr id="9" name="Image 1" descr="/mnt/data/audio_outputs/model_rm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6528" y="1691640"/>
            <a:ext cx="3857625" cy="2057400"/>
          </a:xfrm>
          <a:prstGeom prst="rect">
            <a:avLst/>
          </a:prstGeom>
        </p:spPr>
      </p:pic>
      <p:pic>
        <p:nvPicPr>
          <p:cNvPr id="10" name="Image 2" descr="/mnt/data/audio_outputs/model_r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6528" y="4160520"/>
            <a:ext cx="3857625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"/>
            <a:ext cx="12191695" cy="0"/>
          </a:xfrm>
          <a:prstGeom prst="line">
            <a:avLst/>
          </a:prstGeom>
          <a:noFill/>
          <a:ln w="25400">
            <a:solidFill>
              <a:srgbClr val="36D1D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2191695" cy="0"/>
          </a:xfrm>
          <a:prstGeom prst="line">
            <a:avLst/>
          </a:prstGeom>
          <a:noFill/>
          <a:ln w="15240">
            <a:solidFill>
              <a:srgbClr val="5B8C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Feature importances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21208" y="85953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7C2D9"/>
                </a:solidFill>
              </a:rPr>
              <a:t>Tree models relied on frequency shape and spectral distribution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555480" y="6510528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890B2"/>
                </a:solidFill>
              </a:rPr>
              <a:t>Audio Classification Project  •  8</a:t>
            </a:r>
            <a:endParaRPr lang="en-US" sz="850" dirty="0"/>
          </a:p>
        </p:txBody>
      </p:sp>
      <p:pic>
        <p:nvPicPr>
          <p:cNvPr id="7" name="Image 0" descr="/mnt/data/audio_outputs/rf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22489"/>
            <a:ext cx="5532120" cy="3457575"/>
          </a:xfrm>
          <a:prstGeom prst="rect">
            <a:avLst/>
          </a:prstGeom>
        </p:spPr>
      </p:pic>
      <p:pic>
        <p:nvPicPr>
          <p:cNvPr id="8" name="Image 1" descr="/mnt/data/audio_outputs/xgb_feature_import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622489"/>
            <a:ext cx="5532120" cy="345757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25880" y="5779008"/>
            <a:ext cx="946404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F7FAFC"/>
                </a:solidFill>
              </a:rPr>
              <a:t>The most useful signals were not the file name or label text. They came from acoustic structure: energy, frequency balance, and cepstral/spectral shape.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"/>
            <a:ext cx="12191695" cy="0"/>
          </a:xfrm>
          <a:prstGeom prst="line">
            <a:avLst/>
          </a:prstGeom>
          <a:noFill/>
          <a:ln w="25400">
            <a:solidFill>
              <a:srgbClr val="36D1D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2191695" cy="0"/>
          </a:xfrm>
          <a:prstGeom prst="line">
            <a:avLst/>
          </a:prstGeom>
          <a:noFill/>
          <a:ln w="15240">
            <a:solidFill>
              <a:srgbClr val="5B8C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Conclusion &amp; Next Steps</a:t>
            </a:r>
          </a:p>
        </p:txBody>
      </p:sp>
      <p:sp>
        <p:nvSpPr>
          <p:cNvPr id="6" name="Text 4"/>
          <p:cNvSpPr/>
          <p:nvPr/>
        </p:nvSpPr>
        <p:spPr>
          <a:xfrm>
            <a:off x="9555480" y="6510528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890B2"/>
                </a:solidFill>
              </a:rPr>
              <a:t>Audio Classification Project  •  9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526280" y="228601"/>
            <a:ext cx="3821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36D1DC"/>
                </a:solidFill>
              </a:rPr>
              <a:t>Main takeaway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3657599" y="1920240"/>
            <a:ext cx="5589037" cy="184708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3000" dirty="0">
                <a:solidFill>
                  <a:srgbClr val="F7FAFC"/>
                </a:solidFill>
              </a:rPr>
              <a:t>Hand-built audio features were enough to classify bird, cat, and dog clips with about 87% accuracy using Random Forest.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2747010" y="6810984"/>
            <a:ext cx="4526280" cy="0"/>
          </a:xfrm>
          <a:prstGeom prst="line">
            <a:avLst/>
          </a:prstGeom>
          <a:noFill/>
          <a:ln w="25400">
            <a:solidFill>
              <a:srgbClr val="36D1DC">
                <a:alpha val="8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026" name="Picture 2" descr="Gaming Cat GIFs | Tenor">
            <a:extLst>
              <a:ext uri="{FF2B5EF4-FFF2-40B4-BE49-F238E27FC236}">
                <a16:creationId xmlns:a16="http://schemas.microsoft.com/office/drawing/2014/main" id="{622BBAB7-3F42-C9D3-7D8C-814EE430B8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7287" y="4125087"/>
            <a:ext cx="2171700" cy="2105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Red (Movie) | Angry Birds Wiki | Fandom">
            <a:extLst>
              <a:ext uri="{FF2B5EF4-FFF2-40B4-BE49-F238E27FC236}">
                <a16:creationId xmlns:a16="http://schemas.microsoft.com/office/drawing/2014/main" id="{32FFC29D-E16A-96A8-3714-2C567B0D05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234" y="3867913"/>
            <a:ext cx="1743075" cy="2619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Walter White The Dog | TikTok">
            <a:extLst>
              <a:ext uri="{FF2B5EF4-FFF2-40B4-BE49-F238E27FC236}">
                <a16:creationId xmlns:a16="http://schemas.microsoft.com/office/drawing/2014/main" id="{C3278825-2B7F-9DB4-C926-15200CE35C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5966" y="3866198"/>
            <a:ext cx="1828800" cy="2495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570</Words>
  <Application>Microsoft Office PowerPoint</Application>
  <PresentationFormat>Widescreen</PresentationFormat>
  <Paragraphs>118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Loyola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Audio Classification: Bird vs Cat vs Dog</dc:title>
  <dc:subject>Audio Classification Project</dc:subject>
  <dc:creator>Ethan DeLaRosa</dc:creator>
  <cp:lastModifiedBy>Ethan Delarosa</cp:lastModifiedBy>
  <cp:revision>3</cp:revision>
  <dcterms:created xsi:type="dcterms:W3CDTF">2026-04-28T22:37:00Z</dcterms:created>
  <dcterms:modified xsi:type="dcterms:W3CDTF">2026-04-30T23:08:49Z</dcterms:modified>
</cp:coreProperties>
</file>