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</p:sp>
      <p:pic>
        <p:nvPicPr>
          <p:cNvPr id="4" name="Image 0" descr="/mnt/data/audio_outputs/wave_bi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7748" y="777240"/>
            <a:ext cx="3712464" cy="1325880"/>
          </a:xfrm>
          <a:prstGeom prst="rect">
            <a:avLst/>
          </a:prstGeom>
        </p:spPr>
      </p:pic>
      <p:pic>
        <p:nvPicPr>
          <p:cNvPr id="5" name="Image 1" descr="/mnt/data/audio_outputs/wave_c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748" y="2542032"/>
            <a:ext cx="3712464" cy="1325880"/>
          </a:xfrm>
          <a:prstGeom prst="rect">
            <a:avLst/>
          </a:prstGeom>
        </p:spPr>
      </p:pic>
      <p:pic>
        <p:nvPicPr>
          <p:cNvPr id="6" name="Image 2" descr="/mnt/data/audio_outputs/wave_d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48" y="4315968"/>
            <a:ext cx="3712464" cy="13258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66928" y="124358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Audio Classification</a:t>
            </a:r>
            <a:endParaRPr lang="en-US" sz="3800" dirty="0"/>
          </a:p>
        </p:txBody>
      </p:sp>
      <p:sp>
        <p:nvSpPr>
          <p:cNvPr id="8" name="Text 3"/>
          <p:cNvSpPr/>
          <p:nvPr/>
        </p:nvSpPr>
        <p:spPr>
          <a:xfrm>
            <a:off x="594360" y="184708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D1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Bird vs Cat vs Dog</a:t>
            </a:r>
            <a:endParaRPr lang="en-US" sz="3600" dirty="0"/>
          </a:p>
        </p:txBody>
      </p:sp>
      <p:sp>
        <p:nvSpPr>
          <p:cNvPr id="9" name="Text 4"/>
          <p:cNvSpPr/>
          <p:nvPr/>
        </p:nvSpPr>
        <p:spPr>
          <a:xfrm>
            <a:off x="621792" y="2587752"/>
            <a:ext cx="4846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7C2D9"/>
                </a:solidFill>
              </a:rPr>
              <a:t>Using acoustic features and five machine learning models to classify short spoken-word audio clips.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94944" y="4069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6D1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610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694944" y="44988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audio clips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832104" y="4416552"/>
            <a:ext cx="1024128" cy="0"/>
          </a:xfrm>
          <a:prstGeom prst="line">
            <a:avLst/>
          </a:prstGeom>
          <a:noFill/>
          <a:ln w="15240">
            <a:solidFill>
              <a:srgbClr val="36D1DC">
                <a:alpha val="80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139696" y="4069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2139696" y="44988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numeric features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2276856" y="4416552"/>
            <a:ext cx="1024128" cy="0"/>
          </a:xfrm>
          <a:prstGeom prst="line">
            <a:avLst/>
          </a:prstGeom>
          <a:noFill/>
          <a:ln w="15240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584448" y="4069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E8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3584448" y="44988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models tested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721608" y="4416552"/>
            <a:ext cx="1024128" cy="0"/>
          </a:xfrm>
          <a:prstGeom prst="line">
            <a:avLst/>
          </a:prstGeom>
          <a:noFill/>
          <a:ln w="15240">
            <a:solidFill>
              <a:srgbClr val="67E8A5">
                <a:alpha val="8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58368" y="58064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90B2"/>
                </a:solidFill>
              </a:rPr>
              <a:t>Presentation: May 6, 2026 • 2–4pm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trying to solve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Can a program recognize an animal word from the sound alone?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5910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6D1DC"/>
                </a:solidFill>
              </a:rPr>
              <a:t>Input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</a:rPr>
              <a:t>short .wav clip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26080" y="1901952"/>
            <a:ext cx="1005840" cy="411480"/>
          </a:xfrm>
          <a:prstGeom prst="chevron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5910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4D"/>
                </a:solidFill>
              </a:rPr>
              <a:t>Features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7680" y="1938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</a:rPr>
              <a:t>loudness, pitch range, spectral shape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0" y="1901952"/>
            <a:ext cx="1005840" cy="411480"/>
          </a:xfrm>
          <a:prstGeom prst="chevron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15910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7E8A5"/>
                </a:solidFill>
              </a:rPr>
              <a:t>Prediction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19385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</a:rPr>
              <a:t>bird / cat / dog</a:t>
            </a:r>
            <a:endParaRPr lang="en-US" sz="1700" dirty="0"/>
          </a:p>
        </p:txBody>
      </p:sp>
      <p:pic>
        <p:nvPicPr>
          <p:cNvPr id="15" name="Image 0" descr="/mnt/data/audio_outputs/wave_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703320"/>
            <a:ext cx="3712464" cy="1325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0" y="3794760"/>
            <a:ext cx="53949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AFC"/>
                </a:solidFill>
              </a:rPr>
              <a:t>The challenge: raw audio is not like a spreadsheet. The model needs numerical features that capture what makes each word sound different.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0" y="5138928"/>
            <a:ext cx="4754880" cy="0"/>
          </a:xfrm>
          <a:prstGeom prst="line">
            <a:avLst/>
          </a:prstGeom>
          <a:noFill/>
          <a:ln w="25400">
            <a:solidFill>
              <a:srgbClr val="36D1DC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Kaggle audio clips labeled as bird, cat, or dog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3</a:t>
            </a:r>
            <a:endParaRPr lang="en-US" sz="850" dirty="0"/>
          </a:p>
        </p:txBody>
      </p:sp>
      <p:pic>
        <p:nvPicPr>
          <p:cNvPr id="7" name="Image 0" descr="/mnt/data/audio_outputs/class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1155"/>
            <a:ext cx="4983480" cy="32036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15361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</a:rPr>
              <a:t>Class balance is almost even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537960" y="2221992"/>
            <a:ext cx="30175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7C2D9"/>
                </a:solidFill>
              </a:rPr>
              <a:t>Bird: 193 clips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B7C2D9"/>
                </a:solidFill>
              </a:rPr>
              <a:t>Cat: 207 clips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B7C2D9"/>
                </a:solidFill>
              </a:rPr>
              <a:t>Dog: 210 clips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537960" y="3767328"/>
            <a:ext cx="4297680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</a:rPr>
              <a:t>Because no class dominates the data, accuracy is a fair first look, and a stratified train/test split keeps every class represented.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0" y="5349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8A5"/>
                </a:solidFill>
              </a:rPr>
              <a:t>Split: 80% train / 20% test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used to solve it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Cleaning the data and converting audio into ML-ready features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4</a:t>
            </a:r>
            <a:endParaRPr lang="en-US" sz="850" dirty="0"/>
          </a:p>
        </p:txBody>
      </p:sp>
      <p:pic>
        <p:nvPicPr>
          <p:cNvPr id="7" name="Image 0" descr="/mnt/data/audio_outputs/wave_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9713" y="1115568"/>
            <a:ext cx="3123590" cy="1115568"/>
          </a:xfrm>
          <a:prstGeom prst="rect">
            <a:avLst/>
          </a:prstGeom>
        </p:spPr>
      </p:pic>
      <p:pic>
        <p:nvPicPr>
          <p:cNvPr id="8" name="Image 1" descr="/mnt/data/audio_outputs/wave_bi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13" y="2578608"/>
            <a:ext cx="3123590" cy="1115568"/>
          </a:xfrm>
          <a:prstGeom prst="rect">
            <a:avLst/>
          </a:prstGeom>
        </p:spPr>
      </p:pic>
      <p:pic>
        <p:nvPicPr>
          <p:cNvPr id="9" name="Image 2" descr="/mnt/data/audio_outputs/wave_c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713" y="4041648"/>
            <a:ext cx="3123590" cy="11155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19088" y="12070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D1DC"/>
                </a:solidFill>
              </a:rPr>
              <a:t>PREPROCESSING DECISIONS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6446520" y="1627632"/>
            <a:ext cx="475488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F7FAFC"/>
                </a:solidFill>
              </a:rPr>
              <a:t>Missing values: checked feature table; none found, but median imputation is in every model pipeline.</a:t>
            </a:r>
            <a:endParaRPr lang="en-US" sz="1530" dirty="0"/>
          </a:p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F7FAFC"/>
                </a:solidFill>
              </a:rPr>
              <a:t>Outliers: clipped numeric audio features at the 1st and 99th percentiles.</a:t>
            </a:r>
            <a:endParaRPr lang="en-US" sz="1530" dirty="0"/>
          </a:p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F7FAFC"/>
                </a:solidFill>
              </a:rPr>
              <a:t>Categorical column: label encoded bird/cat/dog as numbers for modeling.</a:t>
            </a:r>
            <a:endParaRPr lang="en-US" sz="1530" dirty="0"/>
          </a:p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F7FAFC"/>
                </a:solidFill>
              </a:rPr>
              <a:t>Imbalance: classes are close; used stratified split and balanced class weights where available.</a:t>
            </a:r>
            <a:endParaRPr lang="en-US" sz="1530" dirty="0"/>
          </a:p>
        </p:txBody>
      </p:sp>
      <p:sp>
        <p:nvSpPr>
          <p:cNvPr id="12" name="Text 7"/>
          <p:cNvSpPr/>
          <p:nvPr/>
        </p:nvSpPr>
        <p:spPr>
          <a:xfrm>
            <a:off x="6419088" y="5074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4D"/>
                </a:solidFill>
              </a:rPr>
              <a:t>FEATURES EXTRACTED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446520" y="5413248"/>
            <a:ext cx="4846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7C2D9"/>
                </a:solidFill>
              </a:rPr>
              <a:t>RMS energy • zero crossing rate • spectral centroid • bandwidth • rolloff • entropy • frequency-band energy • cepstral shape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trained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Five different approaches were tested on the same features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1170432" cy="1170432"/>
          </a:xfrm>
          <a:prstGeom prst="ellipse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8056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KNN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8328" y="3977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nearby examples vote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71800" y="1737360"/>
            <a:ext cx="1170432" cy="1170432"/>
          </a:xfrm>
          <a:prstGeom prst="ellipse">
            <a:avLst/>
          </a:prstGeom>
          <a:solidFill>
            <a:srgbClr val="36D1DC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9933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42616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Logistic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Regression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32888" y="3977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linear decision boundary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66360" y="1737360"/>
            <a:ext cx="1170432" cy="1170432"/>
          </a:xfrm>
          <a:prstGeom prst="ellipse">
            <a:avLst/>
          </a:prstGeom>
          <a:solidFill>
            <a:srgbClr val="67E8A5"/>
          </a:solidFill>
          <a:ln w="12700">
            <a:solidFill>
              <a:srgbClr val="67E8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9933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37176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Random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Forest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27448" y="3977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many trees vote together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60920" y="1737360"/>
            <a:ext cx="1170432" cy="117043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19933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31736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XGBoost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22008" y="3977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boosted trees correct errors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555480" y="1737360"/>
            <a:ext cx="1170432" cy="1170432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19933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26296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Neural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Network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16568" y="3977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small MLP learns patterns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828800" y="5577840"/>
            <a:ext cx="84124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AFC"/>
                </a:solidFill>
              </a:rPr>
              <a:t>All models used the same holdout test set, so the comparison is apples-to-apples.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Random Forest performed best overall on the holdout test 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6</a:t>
            </a:r>
            <a:endParaRPr lang="en-US" sz="850" dirty="0"/>
          </a:p>
        </p:txBody>
      </p:sp>
      <p:pic>
        <p:nvPicPr>
          <p:cNvPr id="7" name="Image 0" descr="/mnt/data/audio_outputs/model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87068"/>
            <a:ext cx="5760720" cy="30723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12280" y="11704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7E8A5"/>
                </a:solidFill>
              </a:rPr>
              <a:t>Best model: Random Forest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967728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E8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86.9%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967728" y="24871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accuracy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04888" y="2404872"/>
            <a:ext cx="1143000" cy="0"/>
          </a:xfrm>
          <a:prstGeom prst="line">
            <a:avLst/>
          </a:prstGeom>
          <a:noFill/>
          <a:ln w="15240">
            <a:solidFill>
              <a:srgbClr val="67E8A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0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6D1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0.869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458200" y="24871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macro F1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595360" y="2404872"/>
            <a:ext cx="1143000" cy="0"/>
          </a:xfrm>
          <a:prstGeom prst="line">
            <a:avLst/>
          </a:prstGeom>
          <a:noFill/>
          <a:ln w="15240">
            <a:solidFill>
              <a:srgbClr val="36D1DC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48672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0.479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948672" y="24871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RMSE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085832" y="2404872"/>
            <a:ext cx="1143000" cy="0"/>
          </a:xfrm>
          <a:prstGeom prst="line">
            <a:avLst/>
          </a:prstGeom>
          <a:noFill/>
          <a:ln w="15240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34015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D1DC"/>
                </a:solidFill>
              </a:rPr>
              <a:t>Model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887968" y="3401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6D1DC"/>
                </a:solidFill>
              </a:rPr>
              <a:t>Acc.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802368" y="340156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6D1DC"/>
                </a:solidFill>
              </a:rPr>
              <a:t>RMSE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0716768" y="3401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6D1DC"/>
                </a:solidFill>
              </a:rPr>
              <a:t>R²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92240" y="3730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67E8A5"/>
                </a:solidFill>
              </a:rPr>
              <a:t>Random Forest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8833104" y="373075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7E8A5"/>
                </a:solidFill>
              </a:rPr>
              <a:t>86.9%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9756648" y="37307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7E8A5"/>
                </a:solidFill>
              </a:rPr>
              <a:t>0.479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10634472" y="3730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7E8A5"/>
                </a:solidFill>
              </a:rPr>
              <a:t>0.654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6492240" y="4059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XGBoost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8833104" y="405993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86.1%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9756648" y="40599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0.536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10634472" y="40599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0.568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6492240" y="43891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Logistic Regression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8833104" y="438912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86.1%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9756648" y="4389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0.462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10634472" y="43891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0.679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6492240" y="47183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KNN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8833104" y="471830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76.2%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9756648" y="47183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0.695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10634472" y="471830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0.271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492240" y="50474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Neural Network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8833104" y="504748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69.7%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9756648" y="50474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0.805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10634472" y="50474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0.024</a:t>
            </a:r>
            <a:endParaRPr lang="en-US" sz="1020" dirty="0"/>
          </a:p>
        </p:txBody>
      </p:sp>
      <p:sp>
        <p:nvSpPr>
          <p:cNvPr id="42" name="Text 39"/>
          <p:cNvSpPr/>
          <p:nvPr/>
        </p:nvSpPr>
        <p:spPr>
          <a:xfrm>
            <a:off x="6556248" y="5669280"/>
            <a:ext cx="48463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B7C2D9"/>
                </a:solidFill>
              </a:rPr>
              <a:t>Note: RMSE and R² are calculated on encoded class labels because the assignment asked for them; accuracy/F1 are more natural for classification.</a:t>
            </a:r>
            <a:endParaRPr lang="en-US" sz="11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model succeeds and misses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The main errors were between cat and dog clips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115568"/>
            <a:ext cx="10515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C2D9"/>
                </a:solidFill>
              </a:rPr>
              <a:t>Random Forest got the strongest accuracy. Logistic Regression slightly led on RMSE/R² because encoded-label distance can reward some wrong classes more than others.</a:t>
            </a:r>
            <a:endParaRPr lang="en-US" sz="1350" dirty="0"/>
          </a:p>
        </p:txBody>
      </p:sp>
      <p:pic>
        <p:nvPicPr>
          <p:cNvPr id="8" name="Image 0" descr="/mnt/data/audio_outpu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87741"/>
            <a:ext cx="4069080" cy="3551197"/>
          </a:xfrm>
          <a:prstGeom prst="rect">
            <a:avLst/>
          </a:prstGeom>
        </p:spPr>
      </p:pic>
      <p:pic>
        <p:nvPicPr>
          <p:cNvPr id="9" name="Image 1" descr="/mnt/data/audio_outputs/model_rm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528" y="1691640"/>
            <a:ext cx="3857625" cy="2057400"/>
          </a:xfrm>
          <a:prstGeom prst="rect">
            <a:avLst/>
          </a:prstGeom>
        </p:spPr>
      </p:pic>
      <p:pic>
        <p:nvPicPr>
          <p:cNvPr id="10" name="Image 2" descr="/mnt/data/audio_outputs/model_r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528" y="4160520"/>
            <a:ext cx="3857625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importances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Tree models relied on frequency shape and spectral distribution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8</a:t>
            </a:r>
            <a:endParaRPr lang="en-US" sz="850" dirty="0"/>
          </a:p>
        </p:txBody>
      </p:sp>
      <p:pic>
        <p:nvPicPr>
          <p:cNvPr id="7" name="Image 0" descr="/mnt/data/audio_outputs/rf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2489"/>
            <a:ext cx="5532120" cy="3457575"/>
          </a:xfrm>
          <a:prstGeom prst="rect">
            <a:avLst/>
          </a:prstGeom>
        </p:spPr>
      </p:pic>
      <p:pic>
        <p:nvPicPr>
          <p:cNvPr id="8" name="Image 1" descr="/mnt/data/audio_outputs/xgb_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22489"/>
            <a:ext cx="5532120" cy="34575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5779008"/>
            <a:ext cx="94640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</a:rPr>
              <a:t>The most useful signals were not the file name or label text. They came from acoustic structure: energy, frequency balance, and cepstral/spectral shape.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The project is GitHub-ready after approval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D1DC"/>
                </a:solidFill>
              </a:rPr>
              <a:t>Main takeaway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48920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7FAFC"/>
                </a:solidFill>
              </a:rPr>
              <a:t>Hand-built audio features were enough to classify bird, cat, and dog clips with about 87% accuracy using Random Forest.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7240" y="3090672"/>
            <a:ext cx="4526280" cy="0"/>
          </a:xfrm>
          <a:prstGeom prst="line">
            <a:avLst/>
          </a:prstGeom>
          <a:noFill/>
          <a:ln w="25400">
            <a:solidFill>
              <a:srgbClr val="36D1DC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350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4D"/>
                </a:solidFill>
              </a:rPr>
              <a:t>WHAT I WOULD IMPROVE NEXT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46520" y="1783080"/>
            <a:ext cx="49377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Use MFCCs from librosa directly and tune model hyperparameters.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Try a CNN on spectrogram images instead of hand-built features.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Add cross-validation for a more stable model comparison.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4160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A5"/>
                </a:solidFill>
              </a:rPr>
              <a:t>SUBMISSION PLAN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46520" y="4572000"/>
            <a:ext cx="4754880" cy="11338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Email instructor the selected project for approval.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Create GitHub repo with code, slides, and results.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Submit GitHub link to Canvas.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Loyola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Classification: Bird vs Cat vs Dog</dc:title>
  <dc:subject>Audio Classification Project</dc:subject>
  <dc:creator>Ethan DeLaRosa</dc:creator>
  <cp:lastModifiedBy>Ethan DeLaRosa</cp:lastModifiedBy>
  <cp:revision>1</cp:revision>
  <dcterms:created xsi:type="dcterms:W3CDTF">2026-04-28T22:37:00Z</dcterms:created>
  <dcterms:modified xsi:type="dcterms:W3CDTF">2026-04-28T22:37:00Z</dcterms:modified>
</cp:coreProperties>
</file>